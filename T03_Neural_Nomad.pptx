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2" r:id="rId5"/>
    <p:sldId id="260" r:id="rId6"/>
    <p:sldId id="261" r:id="rId7"/>
  </p:sldIdLst>
  <p:sldSz cx="14630400" cy="8229600"/>
  <p:notesSz cx="8229600" cy="14630400"/>
  <p:embeddedFontLst>
    <p:embeddedFont>
      <p:font typeface="Syne" panose="020B0604020202020204" charset="0"/>
      <p:regular r:id="rId9"/>
    </p:embeddedFont>
    <p:embeddedFont>
      <p:font typeface="Syne Extra 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152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46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teknodiot.com/farming-simulator-19-oynanis-fragmani-yayinlandi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itzayush21/CropAI/tree/master/model" TargetMode="External"/><Relationship Id="rId13" Type="http://schemas.openxmlformats.org/officeDocument/2006/relationships/image" Target="../media/image19.svg"/><Relationship Id="rId18" Type="http://schemas.openxmlformats.org/officeDocument/2006/relationships/image" Target="../media/image23.svg"/><Relationship Id="rId3" Type="http://schemas.openxmlformats.org/officeDocument/2006/relationships/image" Target="../media/image13.png"/><Relationship Id="rId7" Type="http://schemas.openxmlformats.org/officeDocument/2006/relationships/image" Target="../media/image15.svg"/><Relationship Id="rId12" Type="http://schemas.openxmlformats.org/officeDocument/2006/relationships/image" Target="../media/image18.png"/><Relationship Id="rId17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hyperlink" Target="https://github.com/itzayush21/CropAI/blob/master/models.py" TargetMode="External"/><Relationship Id="rId5" Type="http://schemas.openxmlformats.org/officeDocument/2006/relationships/hyperlink" Target="https://github.com/itzayush21/CropAI/blob/master/app.py" TargetMode="External"/><Relationship Id="rId15" Type="http://schemas.openxmlformats.org/officeDocument/2006/relationships/image" Target="../media/image20.png"/><Relationship Id="rId10" Type="http://schemas.openxmlformats.org/officeDocument/2006/relationships/image" Target="../media/image17.svg"/><Relationship Id="rId4" Type="http://schemas.openxmlformats.org/officeDocument/2006/relationships/hyperlink" Target="https://github.com/itzayush21/CropAI.git" TargetMode="External"/><Relationship Id="rId9" Type="http://schemas.openxmlformats.org/officeDocument/2006/relationships/image" Target="../media/image16.png"/><Relationship Id="rId14" Type="http://schemas.openxmlformats.org/officeDocument/2006/relationships/hyperlink" Target="https://github.com/itzayush21/CropAI/tree/master/templat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D4394A2D-4EF4-837E-6C3B-531FBE892DE3}"/>
              </a:ext>
            </a:extLst>
          </p:cNvPr>
          <p:cNvSpPr/>
          <p:nvPr/>
        </p:nvSpPr>
        <p:spPr>
          <a:xfrm>
            <a:off x="9462382" y="-141843"/>
            <a:ext cx="1263722" cy="8754585"/>
          </a:xfrm>
          <a:custGeom>
            <a:avLst/>
            <a:gdLst>
              <a:gd name="csX0" fmla="*/ 0 w 1263722"/>
              <a:gd name="csY0" fmla="*/ 0 h 8229600"/>
              <a:gd name="csX1" fmla="*/ 1263722 w 1263722"/>
              <a:gd name="csY1" fmla="*/ 0 h 8229600"/>
              <a:gd name="csX2" fmla="*/ 1263722 w 1263722"/>
              <a:gd name="csY2" fmla="*/ 8229600 h 8229600"/>
              <a:gd name="csX3" fmla="*/ 0 w 1263722"/>
              <a:gd name="csY3" fmla="*/ 8229600 h 8229600"/>
              <a:gd name="csX4" fmla="*/ 0 w 1263722"/>
              <a:gd name="csY4" fmla="*/ 0 h 8229600"/>
              <a:gd name="csX0" fmla="*/ 31898 w 1263722"/>
              <a:gd name="csY0" fmla="*/ 0 h 8261498"/>
              <a:gd name="csX1" fmla="*/ 1263722 w 1263722"/>
              <a:gd name="csY1" fmla="*/ 31898 h 8261498"/>
              <a:gd name="csX2" fmla="*/ 1263722 w 1263722"/>
              <a:gd name="csY2" fmla="*/ 8261498 h 8261498"/>
              <a:gd name="csX3" fmla="*/ 0 w 1263722"/>
              <a:gd name="csY3" fmla="*/ 8261498 h 8261498"/>
              <a:gd name="csX4" fmla="*/ 31898 w 1263722"/>
              <a:gd name="csY4" fmla="*/ 0 h 8261498"/>
              <a:gd name="csX0" fmla="*/ 31898 w 1263722"/>
              <a:gd name="csY0" fmla="*/ 0 h 8261498"/>
              <a:gd name="csX1" fmla="*/ 1263722 w 1263722"/>
              <a:gd name="csY1" fmla="*/ 31898 h 8261498"/>
              <a:gd name="csX2" fmla="*/ 1263722 w 1263722"/>
              <a:gd name="csY2" fmla="*/ 8261498 h 8261498"/>
              <a:gd name="csX3" fmla="*/ 0 w 1263722"/>
              <a:gd name="csY3" fmla="*/ 8261498 h 8261498"/>
              <a:gd name="csX4" fmla="*/ 31898 w 1263722"/>
              <a:gd name="csY4" fmla="*/ 0 h 82614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63722" h="8261498">
                <a:moveTo>
                  <a:pt x="31898" y="0"/>
                </a:moveTo>
                <a:lnTo>
                  <a:pt x="1263722" y="31898"/>
                </a:lnTo>
                <a:lnTo>
                  <a:pt x="1263722" y="8261498"/>
                </a:lnTo>
                <a:lnTo>
                  <a:pt x="0" y="8261498"/>
                </a:lnTo>
                <a:cubicBezTo>
                  <a:pt x="10633" y="5507665"/>
                  <a:pt x="1148316" y="2902689"/>
                  <a:pt x="31898" y="0"/>
                </a:cubicBezTo>
                <a:close/>
              </a:path>
            </a:pathLst>
          </a:custGeom>
          <a:ln>
            <a:solidFill>
              <a:schemeClr val="accent6"/>
            </a:solidFill>
          </a:ln>
          <a:effectLst>
            <a:glow rad="127000">
              <a:schemeClr val="accent6">
                <a:satMod val="175000"/>
                <a:alpha val="40000"/>
              </a:schemeClr>
            </a:glow>
            <a:outerShdw blurRad="57150" dist="19050" dir="5400000" algn="ctr" rotWithShape="0">
              <a:srgbClr val="000000">
                <a:alpha val="63000"/>
              </a:srgbClr>
            </a:outerShdw>
            <a:softEdge rad="0"/>
          </a:effectLst>
          <a:scene3d>
            <a:camera prst="orthographicFront"/>
            <a:lightRig rig="threePt" dir="t"/>
          </a:scene3d>
          <a:sp3d contourW="12700">
            <a:contourClr>
              <a:schemeClr val="tx1"/>
            </a:contourClr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 0"/>
          <p:cNvSpPr/>
          <p:nvPr/>
        </p:nvSpPr>
        <p:spPr>
          <a:xfrm>
            <a:off x="793790" y="642818"/>
            <a:ext cx="7556421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CropAI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793790" y="1961198"/>
            <a:ext cx="755642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Smart Crop Advisor with Generative AI and Satellite Data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793790" y="3123400"/>
            <a:ext cx="7556421" cy="35957"/>
          </a:xfrm>
          <a:prstGeom prst="rect">
            <a:avLst/>
          </a:prstGeom>
          <a:solidFill>
            <a:srgbClr val="D7E5D8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793790" y="3669625"/>
            <a:ext cx="1474589" cy="426244"/>
          </a:xfrm>
          <a:prstGeom prst="roundRect">
            <a:avLst>
              <a:gd name="adj" fmla="val 17880"/>
            </a:avLst>
          </a:prstGeom>
          <a:solidFill>
            <a:srgbClr val="33480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929878" y="3737610"/>
            <a:ext cx="120241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TEAM DETAILS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93790" y="4186595"/>
            <a:ext cx="350150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Team Number &amp; Name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93790" y="5122069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Team Number: T03  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Team Name: Neural Nomads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4250863" y="3699748"/>
            <a:ext cx="1150739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A9F00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4394571" y="3775353"/>
            <a:ext cx="86332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A9F00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MEMBERS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250862" y="4186595"/>
            <a:ext cx="6208229" cy="3141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Ayush Kumar Singh </a:t>
            </a:r>
          </a:p>
          <a:p>
            <a:pPr algn="l">
              <a:lnSpc>
                <a:spcPts val="2850"/>
              </a:lnSpc>
              <a:buSzPct val="100000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Roll No. 2262064  |  Autonomy No. 12622019018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Alok Kumar </a:t>
            </a:r>
          </a:p>
          <a:p>
            <a:pPr algn="l">
              <a:lnSpc>
                <a:spcPts val="2850"/>
              </a:lnSpc>
              <a:buSzPct val="100000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Roll No. 2262029 |  Autonomy No.  12622019005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Suprit Kumar </a:t>
            </a:r>
          </a:p>
          <a:p>
            <a:pPr algn="l">
              <a:lnSpc>
                <a:spcPts val="2850"/>
              </a:lnSpc>
              <a:buSzPct val="100000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Roll No. 2262043 |  Autonomy No. 12622019057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Ankit Kumar </a:t>
            </a:r>
          </a:p>
          <a:p>
            <a:pPr algn="l">
              <a:lnSpc>
                <a:spcPts val="2850"/>
              </a:lnSpc>
              <a:buSzPct val="100000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Roll No. 2262069  |  Autonomy No. 12622019009</a:t>
            </a:r>
            <a:endParaRPr lang="en-US" sz="17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0B2D8BC-E659-8E1A-61FD-38FF34350D3B}"/>
              </a:ext>
            </a:extLst>
          </p:cNvPr>
          <p:cNvSpPr/>
          <p:nvPr/>
        </p:nvSpPr>
        <p:spPr>
          <a:xfrm>
            <a:off x="9826804" y="15948"/>
            <a:ext cx="4767209" cy="8213652"/>
          </a:xfrm>
          <a:custGeom>
            <a:avLst/>
            <a:gdLst>
              <a:gd name="csX0" fmla="*/ 0 w 4767209"/>
              <a:gd name="csY0" fmla="*/ 0 h 8229600"/>
              <a:gd name="csX1" fmla="*/ 4767209 w 4767209"/>
              <a:gd name="csY1" fmla="*/ 0 h 8229600"/>
              <a:gd name="csX2" fmla="*/ 4767209 w 4767209"/>
              <a:gd name="csY2" fmla="*/ 8229600 h 8229600"/>
              <a:gd name="csX3" fmla="*/ 0 w 4767209"/>
              <a:gd name="csY3" fmla="*/ 8229600 h 8229600"/>
              <a:gd name="csX4" fmla="*/ 0 w 4767209"/>
              <a:gd name="csY4" fmla="*/ 0 h 8229600"/>
              <a:gd name="csX0" fmla="*/ 10274 w 4767209"/>
              <a:gd name="csY0" fmla="*/ 0 h 8229600"/>
              <a:gd name="csX1" fmla="*/ 4767209 w 4767209"/>
              <a:gd name="csY1" fmla="*/ 0 h 8229600"/>
              <a:gd name="csX2" fmla="*/ 4767209 w 4767209"/>
              <a:gd name="csY2" fmla="*/ 8229600 h 8229600"/>
              <a:gd name="csX3" fmla="*/ 0 w 4767209"/>
              <a:gd name="csY3" fmla="*/ 8229600 h 8229600"/>
              <a:gd name="csX4" fmla="*/ 10274 w 4767209"/>
              <a:gd name="csY4" fmla="*/ 0 h 8229600"/>
              <a:gd name="csX0" fmla="*/ 10274 w 4767209"/>
              <a:gd name="csY0" fmla="*/ 0 h 8229600"/>
              <a:gd name="csX1" fmla="*/ 4767209 w 4767209"/>
              <a:gd name="csY1" fmla="*/ 0 h 8229600"/>
              <a:gd name="csX2" fmla="*/ 4767209 w 4767209"/>
              <a:gd name="csY2" fmla="*/ 8229600 h 8229600"/>
              <a:gd name="csX3" fmla="*/ 0 w 4767209"/>
              <a:gd name="csY3" fmla="*/ 8229600 h 8229600"/>
              <a:gd name="csX4" fmla="*/ 10274 w 4767209"/>
              <a:gd name="csY4" fmla="*/ 0 h 8229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767209" h="8229600">
                <a:moveTo>
                  <a:pt x="10274" y="0"/>
                </a:moveTo>
                <a:lnTo>
                  <a:pt x="4767209" y="0"/>
                </a:lnTo>
                <a:lnTo>
                  <a:pt x="4767209" y="8229600"/>
                </a:lnTo>
                <a:lnTo>
                  <a:pt x="0" y="8229600"/>
                </a:lnTo>
                <a:cubicBezTo>
                  <a:pt x="3425" y="5486400"/>
                  <a:pt x="1065087" y="1839074"/>
                  <a:pt x="10274" y="0"/>
                </a:cubicBezTo>
                <a:close/>
              </a:path>
            </a:pathLst>
          </a:cu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518" y="872966"/>
            <a:ext cx="7384613" cy="635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Project Objectives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11518" y="1872615"/>
            <a:ext cx="13207365" cy="616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CropAI aims to transform agricultural decision-making by unifying satellite imagery, real-time environmental data, machine learning, and generative AI into a single, farmer-friendly platform.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1518" y="2694027"/>
            <a:ext cx="406479" cy="40647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1518" y="3328154"/>
            <a:ext cx="425065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Environmental Intelligence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11518" y="4072533"/>
            <a:ext cx="4250650" cy="616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Deliver real-time crop recommendations using live weather, soil inputs, and satellite data.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89815" y="2694027"/>
            <a:ext cx="406479" cy="40647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189815" y="3328154"/>
            <a:ext cx="288583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Explainable AI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5189815" y="3754993"/>
            <a:ext cx="4250650" cy="924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Integrate Gemini + RAG to generate clear, context-aware explanations for every recommendation.</a:t>
            </a:r>
            <a:endParaRPr lang="en-US" sz="16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68113" y="2694027"/>
            <a:ext cx="406479" cy="40647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68113" y="3328154"/>
            <a:ext cx="425065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ML Prediction Models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9668113" y="4072533"/>
            <a:ext cx="4250650" cy="616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Build models for crop selection, fertiliser optimisation, and profit estimation.</a:t>
            </a:r>
            <a:endParaRPr lang="en-US" sz="16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1518" y="5053370"/>
            <a:ext cx="406479" cy="40647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11518" y="5687497"/>
            <a:ext cx="425065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Sustainable Agriculture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711518" y="6431875"/>
            <a:ext cx="4250650" cy="616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Promote responsible farming through eco-score metrics and soil health analysis.</a:t>
            </a:r>
            <a:endParaRPr lang="en-US" sz="16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189815" y="5053370"/>
            <a:ext cx="406479" cy="406479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189815" y="5687497"/>
            <a:ext cx="425065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Interactive Dashboard</a:t>
            </a:r>
            <a:endParaRPr lang="en-US" sz="2000" dirty="0"/>
          </a:p>
        </p:txBody>
      </p:sp>
      <p:sp>
        <p:nvSpPr>
          <p:cNvPr id="18" name="Text 11"/>
          <p:cNvSpPr/>
          <p:nvPr/>
        </p:nvSpPr>
        <p:spPr>
          <a:xfrm>
            <a:off x="5189815" y="6431875"/>
            <a:ext cx="4250650" cy="924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Provide farmers an intuitive interface for insights, comparisons, and actionable guidance.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8E9C167B-ADC5-05B3-9971-81CAF1133E33}"/>
              </a:ext>
            </a:extLst>
          </p:cNvPr>
          <p:cNvGrpSpPr/>
          <p:nvPr/>
        </p:nvGrpSpPr>
        <p:grpSpPr>
          <a:xfrm>
            <a:off x="991215" y="424060"/>
            <a:ext cx="4647961" cy="400170"/>
            <a:chOff x="2107763" y="1109424"/>
            <a:chExt cx="2331881" cy="251341"/>
          </a:xfrm>
        </p:grpSpPr>
        <p:sp>
          <p:nvSpPr>
            <p:cNvPr id="2" name="Shape 0"/>
            <p:cNvSpPr/>
            <p:nvPr/>
          </p:nvSpPr>
          <p:spPr>
            <a:xfrm>
              <a:off x="2107763" y="1109424"/>
              <a:ext cx="2269450" cy="251341"/>
            </a:xfrm>
            <a:prstGeom prst="roundRect">
              <a:avLst>
                <a:gd name="adj" fmla="val 20178"/>
              </a:avLst>
            </a:prstGeom>
            <a:solidFill>
              <a:srgbClr val="334805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3" name="Text 1"/>
            <p:cNvSpPr/>
            <p:nvPr/>
          </p:nvSpPr>
          <p:spPr>
            <a:xfrm>
              <a:off x="2351169" y="1190453"/>
              <a:ext cx="2088475" cy="16085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250"/>
                </a:lnSpc>
                <a:buNone/>
              </a:pPr>
              <a:r>
                <a:rPr lang="en-US" sz="1600" dirty="0">
                  <a:solidFill>
                    <a:srgbClr val="D7E5D8"/>
                  </a:solidFill>
                  <a:latin typeface="Syne" pitchFamily="34" charset="0"/>
                  <a:ea typeface="Syne" pitchFamily="34" charset="-122"/>
                  <a:cs typeface="Syne" pitchFamily="34" charset="-120"/>
                </a:rPr>
                <a:t>END-OF-SEMESTER ENHANCEMENTS</a:t>
              </a:r>
              <a:endParaRPr lang="en-US" sz="1600" dirty="0"/>
            </a:p>
          </p:txBody>
        </p:sp>
      </p:grpSp>
      <p:sp>
        <p:nvSpPr>
          <p:cNvPr id="4" name="Text 2"/>
          <p:cNvSpPr/>
          <p:nvPr/>
        </p:nvSpPr>
        <p:spPr>
          <a:xfrm>
            <a:off x="991215" y="953750"/>
            <a:ext cx="10414754" cy="943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Progress Since Odd Semester 2025</a:t>
            </a:r>
            <a:endParaRPr lang="en-US" sz="295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91EAB43-A3FA-52A9-934A-6BDB0B6A9AED}"/>
              </a:ext>
            </a:extLst>
          </p:cNvPr>
          <p:cNvGrpSpPr/>
          <p:nvPr/>
        </p:nvGrpSpPr>
        <p:grpSpPr>
          <a:xfrm>
            <a:off x="991215" y="1896962"/>
            <a:ext cx="12647970" cy="5532537"/>
            <a:chOff x="2092523" y="2494717"/>
            <a:chExt cx="10437496" cy="4512468"/>
          </a:xfrm>
        </p:grpSpPr>
        <p:sp>
          <p:nvSpPr>
            <p:cNvPr id="5" name="Text 3"/>
            <p:cNvSpPr/>
            <p:nvPr/>
          </p:nvSpPr>
          <p:spPr>
            <a:xfrm>
              <a:off x="2107763" y="2494717"/>
              <a:ext cx="10414754" cy="4021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550"/>
                </a:lnSpc>
                <a:buNone/>
              </a:pPr>
              <a:r>
                <a:rPr lang="en-US" sz="1400" dirty="0">
                  <a:solidFill>
                    <a:srgbClr val="D7E5D8"/>
                  </a:solidFill>
                  <a:latin typeface="Syne" pitchFamily="34" charset="0"/>
                  <a:ea typeface="Syne" pitchFamily="34" charset="-122"/>
                  <a:cs typeface="Syne" pitchFamily="34" charset="-120"/>
                </a:rPr>
                <a:t>All items below represent </a:t>
              </a:r>
              <a:r>
                <a:rPr lang="en-US" sz="1400" b="1" dirty="0">
                  <a:solidFill>
                    <a:srgbClr val="D7E5D8"/>
                  </a:solidFill>
                  <a:latin typeface="Syne" pitchFamily="34" charset="0"/>
                  <a:ea typeface="Syne" pitchFamily="34" charset="-122"/>
                  <a:cs typeface="Syne" pitchFamily="34" charset="-120"/>
                </a:rPr>
                <a:t>newly added or significantly enhanced</a:t>
              </a:r>
              <a:r>
                <a:rPr lang="en-US" sz="1400" dirty="0">
                  <a:solidFill>
                    <a:srgbClr val="D7E5D8"/>
                  </a:solidFill>
                  <a:latin typeface="Syne" pitchFamily="34" charset="0"/>
                  <a:ea typeface="Syne" pitchFamily="34" charset="-122"/>
                  <a:cs typeface="Syne" pitchFamily="34" charset="-120"/>
                </a:rPr>
                <a:t> features — beyond the initial Flask setup, basic RAG pipeline, and frontend scaffolding.</a:t>
              </a:r>
              <a:endParaRPr lang="en-US" sz="140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2107763" y="3122890"/>
              <a:ext cx="5023247" cy="1070610"/>
            </a:xfrm>
            <a:prstGeom prst="roundRect">
              <a:avLst>
                <a:gd name="adj" fmla="val 6833"/>
              </a:avLst>
            </a:prstGeom>
            <a:solidFill>
              <a:srgbClr val="152025">
                <a:alpha val="95000"/>
              </a:srgbClr>
            </a:solidFill>
            <a:ln w="15240">
              <a:solidFill>
                <a:srgbClr val="6D9121"/>
              </a:solidFill>
              <a:prstDash val="solid"/>
            </a:ln>
          </p:spPr>
          <p:txBody>
            <a:bodyPr/>
            <a:lstStyle/>
            <a:p>
              <a:endParaRPr lang="en-IN" sz="2400"/>
            </a:p>
          </p:txBody>
        </p:sp>
        <p:sp>
          <p:nvSpPr>
            <p:cNvPr id="7" name="Shape 5"/>
            <p:cNvSpPr/>
            <p:nvPr/>
          </p:nvSpPr>
          <p:spPr>
            <a:xfrm>
              <a:off x="2092523" y="3122890"/>
              <a:ext cx="60960" cy="1070610"/>
            </a:xfrm>
            <a:prstGeom prst="roundRect">
              <a:avLst>
                <a:gd name="adj" fmla="val 103994"/>
              </a:avLst>
            </a:prstGeom>
            <a:solidFill>
              <a:srgbClr val="A9F00F"/>
            </a:solidFill>
            <a:ln/>
          </p:spPr>
          <p:txBody>
            <a:bodyPr/>
            <a:lstStyle/>
            <a:p>
              <a:endParaRPr lang="en-IN" sz="2400"/>
            </a:p>
          </p:txBody>
        </p:sp>
        <p:sp>
          <p:nvSpPr>
            <p:cNvPr id="8" name="Text 6"/>
            <p:cNvSpPr/>
            <p:nvPr/>
          </p:nvSpPr>
          <p:spPr>
            <a:xfrm>
              <a:off x="2319576" y="3288983"/>
              <a:ext cx="2920841" cy="23586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850"/>
                </a:lnSpc>
                <a:buNone/>
              </a:pPr>
              <a:r>
                <a:rPr lang="en-US" b="1" dirty="0">
                  <a:solidFill>
                    <a:srgbClr val="D7E5D8"/>
                  </a:solidFill>
                  <a:latin typeface="Syne Extra Bold" pitchFamily="34" charset="0"/>
                  <a:ea typeface="Syne Extra Bold" pitchFamily="34" charset="-122"/>
                  <a:cs typeface="Syne Extra Bold" pitchFamily="34" charset="-120"/>
                </a:rPr>
                <a:t>Custom ML Models</a:t>
              </a:r>
              <a:endParaRPr lang="en-US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2319576" y="3625215"/>
              <a:ext cx="4645343" cy="4021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550"/>
                </a:lnSpc>
                <a:buNone/>
              </a:pPr>
              <a:r>
                <a:rPr lang="en-US" sz="1400" dirty="0">
                  <a:solidFill>
                    <a:srgbClr val="D7E5D8"/>
                  </a:solidFill>
                  <a:latin typeface="Syne" pitchFamily="34" charset="0"/>
                  <a:ea typeface="Syne" pitchFamily="34" charset="-122"/>
                  <a:cs typeface="Syne" pitchFamily="34" charset="-120"/>
                </a:rPr>
                <a:t>Crop recommendation, fertiliser prediction, and profit estimation models — trained and integrated end-to-end.</a:t>
              </a:r>
              <a:endParaRPr lang="en-US" sz="14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2107763" y="4293870"/>
              <a:ext cx="5023247" cy="1070610"/>
            </a:xfrm>
            <a:prstGeom prst="roundRect">
              <a:avLst>
                <a:gd name="adj" fmla="val 6833"/>
              </a:avLst>
            </a:prstGeom>
            <a:solidFill>
              <a:srgbClr val="152025">
                <a:alpha val="95000"/>
              </a:srgbClr>
            </a:solidFill>
            <a:ln w="15240">
              <a:solidFill>
                <a:srgbClr val="6D9121"/>
              </a:solidFill>
              <a:prstDash val="solid"/>
            </a:ln>
          </p:spPr>
          <p:txBody>
            <a:bodyPr/>
            <a:lstStyle/>
            <a:p>
              <a:endParaRPr lang="en-IN" sz="2400"/>
            </a:p>
          </p:txBody>
        </p:sp>
        <p:sp>
          <p:nvSpPr>
            <p:cNvPr id="11" name="Shape 9"/>
            <p:cNvSpPr/>
            <p:nvPr/>
          </p:nvSpPr>
          <p:spPr>
            <a:xfrm>
              <a:off x="2092523" y="4293870"/>
              <a:ext cx="60960" cy="1070610"/>
            </a:xfrm>
            <a:prstGeom prst="roundRect">
              <a:avLst>
                <a:gd name="adj" fmla="val 103994"/>
              </a:avLst>
            </a:prstGeom>
            <a:solidFill>
              <a:srgbClr val="A9F00F"/>
            </a:solidFill>
            <a:ln/>
          </p:spPr>
          <p:txBody>
            <a:bodyPr/>
            <a:lstStyle/>
            <a:p>
              <a:endParaRPr lang="en-IN" sz="2400"/>
            </a:p>
          </p:txBody>
        </p:sp>
        <p:sp>
          <p:nvSpPr>
            <p:cNvPr id="12" name="Text 10"/>
            <p:cNvSpPr/>
            <p:nvPr/>
          </p:nvSpPr>
          <p:spPr>
            <a:xfrm>
              <a:off x="2319576" y="4459962"/>
              <a:ext cx="2974419" cy="23586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850"/>
                </a:lnSpc>
                <a:buNone/>
              </a:pPr>
              <a:r>
                <a:rPr lang="en-US" b="1" dirty="0">
                  <a:solidFill>
                    <a:srgbClr val="D7E5D8"/>
                  </a:solidFill>
                  <a:latin typeface="Syne Extra Bold" pitchFamily="34" charset="0"/>
                  <a:ea typeface="Syne Extra Bold" pitchFamily="34" charset="-122"/>
                  <a:cs typeface="Syne Extra Bold" pitchFamily="34" charset="-120"/>
                </a:rPr>
                <a:t>AI Explainer Module</a:t>
              </a:r>
              <a:endParaRPr lang="en-US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2319576" y="4796195"/>
              <a:ext cx="4645343" cy="4021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550"/>
                </a:lnSpc>
                <a:buNone/>
              </a:pPr>
              <a:r>
                <a:rPr lang="en-US" sz="1400" dirty="0">
                  <a:solidFill>
                    <a:srgbClr val="D7E5D8"/>
                  </a:solidFill>
                  <a:latin typeface="Syne" pitchFamily="34" charset="0"/>
                  <a:ea typeface="Syne" pitchFamily="34" charset="-122"/>
                  <a:cs typeface="Syne" pitchFamily="34" charset="-120"/>
                </a:rPr>
                <a:t>Converts text insights into narrated audio/video explanations via Gemini-powered text → script → media pipeline.</a:t>
              </a:r>
              <a:endParaRPr lang="en-US" sz="14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2107763" y="5464850"/>
              <a:ext cx="5023247" cy="1070610"/>
            </a:xfrm>
            <a:prstGeom prst="roundRect">
              <a:avLst>
                <a:gd name="adj" fmla="val 6833"/>
              </a:avLst>
            </a:prstGeom>
            <a:solidFill>
              <a:srgbClr val="152025">
                <a:alpha val="95000"/>
              </a:srgbClr>
            </a:solidFill>
            <a:ln w="15240">
              <a:solidFill>
                <a:srgbClr val="6D9121"/>
              </a:solidFill>
              <a:prstDash val="solid"/>
            </a:ln>
          </p:spPr>
          <p:txBody>
            <a:bodyPr/>
            <a:lstStyle/>
            <a:p>
              <a:endParaRPr lang="en-IN" sz="2400"/>
            </a:p>
          </p:txBody>
        </p:sp>
        <p:sp>
          <p:nvSpPr>
            <p:cNvPr id="15" name="Shape 13"/>
            <p:cNvSpPr/>
            <p:nvPr/>
          </p:nvSpPr>
          <p:spPr>
            <a:xfrm>
              <a:off x="2092523" y="5464850"/>
              <a:ext cx="60960" cy="1070610"/>
            </a:xfrm>
            <a:prstGeom prst="roundRect">
              <a:avLst>
                <a:gd name="adj" fmla="val 103994"/>
              </a:avLst>
            </a:prstGeom>
            <a:solidFill>
              <a:srgbClr val="A9F00F"/>
            </a:solidFill>
            <a:ln/>
          </p:spPr>
          <p:txBody>
            <a:bodyPr/>
            <a:lstStyle/>
            <a:p>
              <a:endParaRPr lang="en-IN" sz="2400"/>
            </a:p>
          </p:txBody>
        </p:sp>
        <p:sp>
          <p:nvSpPr>
            <p:cNvPr id="16" name="Text 14"/>
            <p:cNvSpPr/>
            <p:nvPr/>
          </p:nvSpPr>
          <p:spPr>
            <a:xfrm>
              <a:off x="2319576" y="5630942"/>
              <a:ext cx="3919299" cy="23586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850"/>
                </a:lnSpc>
                <a:buNone/>
              </a:pPr>
              <a:r>
                <a:rPr lang="en-US" b="1" dirty="0">
                  <a:solidFill>
                    <a:srgbClr val="D7E5D8"/>
                  </a:solidFill>
                  <a:latin typeface="Syne Extra Bold" pitchFamily="34" charset="0"/>
                  <a:ea typeface="Syne Extra Bold" pitchFamily="34" charset="-122"/>
                  <a:cs typeface="Syne Extra Bold" pitchFamily="34" charset="-120"/>
                </a:rPr>
                <a:t>Decision Comparison Tool</a:t>
              </a:r>
              <a:endParaRPr lang="en-US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2319576" y="5967174"/>
              <a:ext cx="4645343" cy="4021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550"/>
                </a:lnSpc>
                <a:buNone/>
              </a:pPr>
              <a:r>
                <a:rPr lang="en-US" sz="1400" dirty="0">
                  <a:solidFill>
                    <a:srgbClr val="D7E5D8"/>
                  </a:solidFill>
                  <a:latin typeface="Syne" pitchFamily="34" charset="0"/>
                  <a:ea typeface="Syne" pitchFamily="34" charset="-122"/>
                  <a:cs typeface="Syne" pitchFamily="34" charset="-120"/>
                </a:rPr>
                <a:t>Side-by-side evaluation of multiple crop options across profitability, risk, and sustainability dimensions.</a:t>
              </a:r>
              <a:endParaRPr lang="en-US" sz="14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7506772" y="3122890"/>
              <a:ext cx="5023247" cy="1306473"/>
            </a:xfrm>
            <a:prstGeom prst="roundRect">
              <a:avLst>
                <a:gd name="adj" fmla="val 5599"/>
              </a:avLst>
            </a:prstGeom>
            <a:solidFill>
              <a:srgbClr val="152025">
                <a:alpha val="95000"/>
              </a:srgbClr>
            </a:solidFill>
            <a:ln w="15240">
              <a:solidFill>
                <a:srgbClr val="6D9121"/>
              </a:solidFill>
              <a:prstDash val="solid"/>
            </a:ln>
          </p:spPr>
          <p:txBody>
            <a:bodyPr/>
            <a:lstStyle/>
            <a:p>
              <a:endParaRPr lang="en-IN" sz="2400"/>
            </a:p>
          </p:txBody>
        </p:sp>
        <p:sp>
          <p:nvSpPr>
            <p:cNvPr id="19" name="Shape 17"/>
            <p:cNvSpPr/>
            <p:nvPr/>
          </p:nvSpPr>
          <p:spPr>
            <a:xfrm>
              <a:off x="7491532" y="3122890"/>
              <a:ext cx="60960" cy="1306473"/>
            </a:xfrm>
            <a:prstGeom prst="roundRect">
              <a:avLst>
                <a:gd name="adj" fmla="val 103994"/>
              </a:avLst>
            </a:prstGeom>
            <a:solidFill>
              <a:srgbClr val="A9F00F"/>
            </a:solidFill>
            <a:ln/>
          </p:spPr>
          <p:txBody>
            <a:bodyPr/>
            <a:lstStyle/>
            <a:p>
              <a:endParaRPr lang="en-IN" sz="2400"/>
            </a:p>
          </p:txBody>
        </p:sp>
        <p:sp>
          <p:nvSpPr>
            <p:cNvPr id="20" name="Text 18"/>
            <p:cNvSpPr/>
            <p:nvPr/>
          </p:nvSpPr>
          <p:spPr>
            <a:xfrm>
              <a:off x="7718584" y="3288983"/>
              <a:ext cx="4645343" cy="47172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850"/>
                </a:lnSpc>
                <a:buNone/>
              </a:pPr>
              <a:r>
                <a:rPr lang="en-US" b="1" dirty="0">
                  <a:solidFill>
                    <a:srgbClr val="D7E5D8"/>
                  </a:solidFill>
                  <a:latin typeface="Syne Extra Bold" pitchFamily="34" charset="0"/>
                  <a:ea typeface="Syne Extra Bold" pitchFamily="34" charset="-122"/>
                  <a:cs typeface="Syne Extra Bold" pitchFamily="34" charset="-120"/>
                </a:rPr>
                <a:t>Inventory &amp; Equipment Systems</a:t>
              </a:r>
              <a:endParaRPr lang="en-US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7718584" y="3861078"/>
              <a:ext cx="4645343" cy="4021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550"/>
                </a:lnSpc>
                <a:buNone/>
              </a:pPr>
              <a:r>
                <a:rPr lang="en-US" sz="1400" dirty="0">
                  <a:solidFill>
                    <a:srgbClr val="D7E5D8"/>
                  </a:solidFill>
                  <a:latin typeface="Syne" pitchFamily="34" charset="0"/>
                  <a:ea typeface="Syne" pitchFamily="34" charset="-122"/>
                  <a:cs typeface="Syne" pitchFamily="34" charset="-120"/>
                </a:rPr>
                <a:t>Inventory Management for farming resources + Equipment Recommendation based on crop type and land conditions.</a:t>
              </a:r>
              <a:endParaRPr lang="en-US" sz="14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7506772" y="4529733"/>
              <a:ext cx="5023247" cy="1070610"/>
            </a:xfrm>
            <a:prstGeom prst="roundRect">
              <a:avLst>
                <a:gd name="adj" fmla="val 6833"/>
              </a:avLst>
            </a:prstGeom>
            <a:solidFill>
              <a:srgbClr val="152025">
                <a:alpha val="95000"/>
              </a:srgbClr>
            </a:solidFill>
            <a:ln w="15240">
              <a:solidFill>
                <a:srgbClr val="6D9121"/>
              </a:solidFill>
              <a:prstDash val="solid"/>
            </a:ln>
          </p:spPr>
          <p:txBody>
            <a:bodyPr/>
            <a:lstStyle/>
            <a:p>
              <a:endParaRPr lang="en-IN" sz="2400"/>
            </a:p>
          </p:txBody>
        </p:sp>
        <p:sp>
          <p:nvSpPr>
            <p:cNvPr id="23" name="Shape 21"/>
            <p:cNvSpPr/>
            <p:nvPr/>
          </p:nvSpPr>
          <p:spPr>
            <a:xfrm>
              <a:off x="7491532" y="4529733"/>
              <a:ext cx="60960" cy="1070610"/>
            </a:xfrm>
            <a:prstGeom prst="roundRect">
              <a:avLst>
                <a:gd name="adj" fmla="val 103994"/>
              </a:avLst>
            </a:prstGeom>
            <a:solidFill>
              <a:srgbClr val="A9F00F"/>
            </a:solidFill>
            <a:ln/>
          </p:spPr>
          <p:txBody>
            <a:bodyPr/>
            <a:lstStyle/>
            <a:p>
              <a:endParaRPr lang="en-IN" sz="2400"/>
            </a:p>
          </p:txBody>
        </p:sp>
        <p:sp>
          <p:nvSpPr>
            <p:cNvPr id="24" name="Text 22"/>
            <p:cNvSpPr/>
            <p:nvPr/>
          </p:nvSpPr>
          <p:spPr>
            <a:xfrm>
              <a:off x="7718584" y="4695825"/>
              <a:ext cx="3471743" cy="23586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850"/>
                </a:lnSpc>
                <a:buNone/>
              </a:pPr>
              <a:r>
                <a:rPr lang="en-US" b="1" dirty="0">
                  <a:solidFill>
                    <a:srgbClr val="D7E5D8"/>
                  </a:solidFill>
                  <a:latin typeface="Syne Extra Bold" pitchFamily="34" charset="0"/>
                  <a:ea typeface="Syne Extra Bold" pitchFamily="34" charset="-122"/>
                  <a:cs typeface="Syne Extra Bold" pitchFamily="34" charset="-120"/>
                </a:rPr>
                <a:t>Nearby Services Finder</a:t>
              </a:r>
              <a:endParaRPr lang="en-US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7718584" y="5032058"/>
              <a:ext cx="4645343" cy="4021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550"/>
                </a:lnSpc>
                <a:buNone/>
              </a:pPr>
              <a:r>
                <a:rPr lang="en-US" sz="1400" dirty="0">
                  <a:solidFill>
                    <a:srgbClr val="D7E5D8"/>
                  </a:solidFill>
                  <a:latin typeface="Syne" pitchFamily="34" charset="0"/>
                  <a:ea typeface="Syne" pitchFamily="34" charset="-122"/>
                  <a:cs typeface="Syne" pitchFamily="34" charset="-120"/>
                </a:rPr>
                <a:t>Locates nearby markets, fertiliser shops, and agri-service centres relative to the user's location.</a:t>
              </a:r>
              <a:endParaRPr lang="en-US" sz="14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7506772" y="5700712"/>
              <a:ext cx="5023247" cy="1306473"/>
            </a:xfrm>
            <a:prstGeom prst="roundRect">
              <a:avLst>
                <a:gd name="adj" fmla="val 5599"/>
              </a:avLst>
            </a:prstGeom>
            <a:solidFill>
              <a:srgbClr val="152025">
                <a:alpha val="95000"/>
              </a:srgbClr>
            </a:solidFill>
            <a:ln w="15240">
              <a:solidFill>
                <a:srgbClr val="6D9121"/>
              </a:solidFill>
              <a:prstDash val="solid"/>
            </a:ln>
          </p:spPr>
          <p:txBody>
            <a:bodyPr/>
            <a:lstStyle/>
            <a:p>
              <a:endParaRPr lang="en-IN" sz="2400"/>
            </a:p>
          </p:txBody>
        </p:sp>
        <p:sp>
          <p:nvSpPr>
            <p:cNvPr id="27" name="Shape 25"/>
            <p:cNvSpPr/>
            <p:nvPr/>
          </p:nvSpPr>
          <p:spPr>
            <a:xfrm>
              <a:off x="7491532" y="5700712"/>
              <a:ext cx="60960" cy="1306473"/>
            </a:xfrm>
            <a:prstGeom prst="roundRect">
              <a:avLst>
                <a:gd name="adj" fmla="val 103994"/>
              </a:avLst>
            </a:prstGeom>
            <a:solidFill>
              <a:srgbClr val="A9F00F"/>
            </a:solidFill>
            <a:ln/>
          </p:spPr>
          <p:txBody>
            <a:bodyPr/>
            <a:lstStyle/>
            <a:p>
              <a:endParaRPr lang="en-IN" sz="2400"/>
            </a:p>
          </p:txBody>
        </p:sp>
        <p:sp>
          <p:nvSpPr>
            <p:cNvPr id="28" name="Text 26"/>
            <p:cNvSpPr/>
            <p:nvPr/>
          </p:nvSpPr>
          <p:spPr>
            <a:xfrm>
              <a:off x="7718584" y="5866805"/>
              <a:ext cx="4645343" cy="47172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850"/>
                </a:lnSpc>
                <a:buNone/>
              </a:pPr>
              <a:r>
                <a:rPr lang="en-US" b="1" dirty="0">
                  <a:solidFill>
                    <a:srgbClr val="D7E5D8"/>
                  </a:solidFill>
                  <a:latin typeface="Syne Extra Bold" pitchFamily="34" charset="0"/>
                  <a:ea typeface="Syne Extra Bold" pitchFamily="34" charset="-122"/>
                  <a:cs typeface="Syne Extra Bold" pitchFamily="34" charset="-120"/>
                </a:rPr>
                <a:t>Agri News Feed &amp; Data Integrity</a:t>
              </a:r>
              <a:endParaRPr lang="en-US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7718584" y="6438900"/>
              <a:ext cx="4645343" cy="4021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550"/>
                </a:lnSpc>
                <a:buNone/>
              </a:pPr>
              <a:r>
                <a:rPr lang="en-US" sz="1400" dirty="0">
                  <a:solidFill>
                    <a:srgbClr val="D7E5D8"/>
                  </a:solidFill>
                  <a:latin typeface="Syne" pitchFamily="34" charset="0"/>
                  <a:ea typeface="Syne" pitchFamily="34" charset="-122"/>
                  <a:cs typeface="Syne" pitchFamily="34" charset="-120"/>
                </a:rPr>
                <a:t>Real-time agricultural news feed; structured JSON schemas and ORM models enforce system-wide data consistency.</a:t>
              </a:r>
              <a:endParaRPr lang="en-US" sz="1400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4596" y="366600"/>
            <a:ext cx="7911465" cy="489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Final Demonstration Plan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596622" y="1090553"/>
            <a:ext cx="13539508" cy="423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 live end-to-end walkthrough showcasing the full CropAI pipeline — from raw user inputs to actionable, AI-explained recommendations on an interactive dashboard.</a:t>
            </a:r>
            <a:endParaRPr lang="en-US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26D6E07-EB02-DB7A-EF8F-4A0CC20D9050}"/>
              </a:ext>
            </a:extLst>
          </p:cNvPr>
          <p:cNvGrpSpPr/>
          <p:nvPr/>
        </p:nvGrpSpPr>
        <p:grpSpPr>
          <a:xfrm>
            <a:off x="596622" y="1885420"/>
            <a:ext cx="13539508" cy="4589521"/>
            <a:chOff x="1907858" y="2421731"/>
            <a:chExt cx="10814566" cy="4092297"/>
          </a:xfrm>
        </p:grpSpPr>
        <p:sp>
          <p:nvSpPr>
            <p:cNvPr id="4" name="Shape 2"/>
            <p:cNvSpPr/>
            <p:nvPr/>
          </p:nvSpPr>
          <p:spPr>
            <a:xfrm>
              <a:off x="1907858" y="2421731"/>
              <a:ext cx="2622471" cy="1975604"/>
            </a:xfrm>
            <a:prstGeom prst="roundRect">
              <a:avLst>
                <a:gd name="adj" fmla="val 3332"/>
              </a:avLst>
            </a:prstGeom>
            <a:solidFill>
              <a:srgbClr val="547808"/>
            </a:solidFill>
            <a:ln w="7620">
              <a:solidFill>
                <a:srgbClr val="6D9121"/>
              </a:solidFill>
              <a:prstDash val="solid"/>
            </a:ln>
          </p:spPr>
          <p:txBody>
            <a:bodyPr/>
            <a:lstStyle/>
            <a:p>
              <a:endParaRPr lang="en-IN" sz="2400"/>
            </a:p>
          </p:txBody>
        </p:sp>
        <p:sp>
          <p:nvSpPr>
            <p:cNvPr id="5" name="Text 3"/>
            <p:cNvSpPr/>
            <p:nvPr/>
          </p:nvSpPr>
          <p:spPr>
            <a:xfrm>
              <a:off x="2072164" y="2586038"/>
              <a:ext cx="2293858" cy="7343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00"/>
                </a:lnSpc>
                <a:buNone/>
              </a:pPr>
              <a:r>
                <a:rPr lang="en-US" b="1" dirty="0">
                  <a:solidFill>
                    <a:srgbClr val="FFFFFF"/>
                  </a:solidFill>
                  <a:latin typeface="Syne Extra Bold" pitchFamily="34" charset="0"/>
                  <a:ea typeface="Syne Extra Bold" pitchFamily="34" charset="-122"/>
                  <a:cs typeface="Syne Extra Bold" pitchFamily="34" charset="-120"/>
                </a:rPr>
                <a:t>1. User Input &amp; Context Capture</a:t>
              </a:r>
              <a:endParaRPr lang="en-US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2072164" y="3385304"/>
              <a:ext cx="2293858" cy="6357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650"/>
                </a:lnSpc>
                <a:buNone/>
              </a:pPr>
              <a:r>
                <a:rPr lang="en-US" sz="1600" dirty="0">
                  <a:solidFill>
                    <a:srgbClr val="FFFFFF"/>
                  </a:solidFill>
                  <a:latin typeface="Syne" pitchFamily="34" charset="0"/>
                  <a:ea typeface="Syne" pitchFamily="34" charset="-122"/>
                  <a:cs typeface="Syne" pitchFamily="34" charset="-120"/>
                </a:rPr>
                <a:t>Location, soil data, crop query, file/image upload, plus stored user and farm data.</a:t>
              </a:r>
              <a:endParaRPr lang="en-US" sz="16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4638556" y="2421731"/>
              <a:ext cx="2622471" cy="1975604"/>
            </a:xfrm>
            <a:prstGeom prst="roundRect">
              <a:avLst>
                <a:gd name="adj" fmla="val 3332"/>
              </a:avLst>
            </a:prstGeom>
            <a:solidFill>
              <a:srgbClr val="547808"/>
            </a:solidFill>
            <a:ln w="7620">
              <a:solidFill>
                <a:srgbClr val="6D9121"/>
              </a:solidFill>
              <a:prstDash val="solid"/>
            </a:ln>
          </p:spPr>
          <p:txBody>
            <a:bodyPr/>
            <a:lstStyle/>
            <a:p>
              <a:endParaRPr lang="en-IN" sz="2400"/>
            </a:p>
          </p:txBody>
        </p:sp>
        <p:sp>
          <p:nvSpPr>
            <p:cNvPr id="8" name="Text 6"/>
            <p:cNvSpPr/>
            <p:nvPr/>
          </p:nvSpPr>
          <p:spPr>
            <a:xfrm>
              <a:off x="4802862" y="2586038"/>
              <a:ext cx="2293858" cy="7343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00"/>
                </a:lnSpc>
                <a:buNone/>
              </a:pPr>
              <a:r>
                <a:rPr lang="en-US" b="1" dirty="0">
                  <a:solidFill>
                    <a:srgbClr val="FFFFFF"/>
                  </a:solidFill>
                  <a:latin typeface="Syne Extra Bold" pitchFamily="34" charset="0"/>
                  <a:ea typeface="Syne Extra Bold" pitchFamily="34" charset="-122"/>
                  <a:cs typeface="Syne Extra Bold" pitchFamily="34" charset="-120"/>
                </a:rPr>
                <a:t>2. Data Acquisition Layer</a:t>
              </a:r>
              <a:endParaRPr lang="en-US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4802862" y="3385304"/>
              <a:ext cx="2293858" cy="6357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650"/>
                </a:lnSpc>
                <a:buNone/>
              </a:pPr>
              <a:r>
                <a:rPr lang="en-US" sz="1600" dirty="0">
                  <a:solidFill>
                    <a:srgbClr val="FFFFFF"/>
                  </a:solidFill>
                  <a:latin typeface="Syne" pitchFamily="34" charset="0"/>
                  <a:ea typeface="Syne" pitchFamily="34" charset="-122"/>
                  <a:cs typeface="Syne" pitchFamily="34" charset="-120"/>
                </a:rPr>
                <a:t>Satellite data, weather APIs, soil dataset integration, and data cleaning &amp; normalization.</a:t>
              </a:r>
              <a:endParaRPr lang="en-US" sz="16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7369254" y="2421731"/>
              <a:ext cx="2622471" cy="1975604"/>
            </a:xfrm>
            <a:prstGeom prst="roundRect">
              <a:avLst>
                <a:gd name="adj" fmla="val 3332"/>
              </a:avLst>
            </a:prstGeom>
            <a:solidFill>
              <a:srgbClr val="547808"/>
            </a:solidFill>
            <a:ln w="7620">
              <a:solidFill>
                <a:srgbClr val="6D9121"/>
              </a:solidFill>
              <a:prstDash val="solid"/>
            </a:ln>
          </p:spPr>
          <p:txBody>
            <a:bodyPr/>
            <a:lstStyle/>
            <a:p>
              <a:endParaRPr lang="en-IN" sz="2400"/>
            </a:p>
          </p:txBody>
        </p:sp>
        <p:sp>
          <p:nvSpPr>
            <p:cNvPr id="11" name="Text 9"/>
            <p:cNvSpPr/>
            <p:nvPr/>
          </p:nvSpPr>
          <p:spPr>
            <a:xfrm>
              <a:off x="7533561" y="2586038"/>
              <a:ext cx="2293858" cy="7343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00"/>
                </a:lnSpc>
                <a:buNone/>
              </a:pPr>
              <a:r>
                <a:rPr lang="en-US" b="1" dirty="0">
                  <a:solidFill>
                    <a:srgbClr val="FFFFFF"/>
                  </a:solidFill>
                  <a:latin typeface="Syne Extra Bold" pitchFamily="34" charset="0"/>
                  <a:ea typeface="Syne Extra Bold" pitchFamily="34" charset="-122"/>
                  <a:cs typeface="Syne Extra Bold" pitchFamily="34" charset="-120"/>
                </a:rPr>
                <a:t>3. ML Prediction Layer</a:t>
              </a:r>
              <a:endParaRPr lang="en-US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7533561" y="3385304"/>
              <a:ext cx="2293858" cy="8477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650"/>
                </a:lnSpc>
                <a:buNone/>
              </a:pPr>
              <a:r>
                <a:rPr lang="en-US" sz="1600" dirty="0">
                  <a:solidFill>
                    <a:srgbClr val="FFFFFF"/>
                  </a:solidFill>
                  <a:latin typeface="Syne" pitchFamily="34" charset="0"/>
                  <a:ea typeface="Syne" pitchFamily="34" charset="-122"/>
                  <a:cs typeface="Syne" pitchFamily="34" charset="-120"/>
                </a:rPr>
                <a:t>Crop recommendation model, fertilizer prediction model, profit prediction model, and structured predictions.</a:t>
              </a:r>
              <a:endParaRPr lang="en-US" sz="16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10099953" y="2421731"/>
              <a:ext cx="2622471" cy="1975604"/>
            </a:xfrm>
            <a:prstGeom prst="roundRect">
              <a:avLst>
                <a:gd name="adj" fmla="val 3332"/>
              </a:avLst>
            </a:prstGeom>
            <a:solidFill>
              <a:srgbClr val="547808"/>
            </a:solidFill>
            <a:ln w="7620">
              <a:solidFill>
                <a:srgbClr val="6D9121"/>
              </a:solidFill>
              <a:prstDash val="solid"/>
            </a:ln>
          </p:spPr>
          <p:txBody>
            <a:bodyPr/>
            <a:lstStyle/>
            <a:p>
              <a:endParaRPr lang="en-IN" sz="2400"/>
            </a:p>
          </p:txBody>
        </p:sp>
        <p:sp>
          <p:nvSpPr>
            <p:cNvPr id="14" name="Text 12"/>
            <p:cNvSpPr/>
            <p:nvPr/>
          </p:nvSpPr>
          <p:spPr>
            <a:xfrm>
              <a:off x="10264259" y="2586038"/>
              <a:ext cx="2293858" cy="7343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00"/>
                </a:lnSpc>
                <a:buNone/>
              </a:pPr>
              <a:r>
                <a:rPr lang="en-US" b="1" dirty="0">
                  <a:solidFill>
                    <a:srgbClr val="FFFFFF"/>
                  </a:solidFill>
                  <a:latin typeface="Syne Extra Bold" pitchFamily="34" charset="0"/>
                  <a:ea typeface="Syne Extra Bold" pitchFamily="34" charset="-122"/>
                  <a:cs typeface="Syne Extra Bold" pitchFamily="34" charset="-120"/>
                </a:rPr>
                <a:t>4. Decision Intelligence Layer</a:t>
              </a:r>
              <a:endParaRPr lang="en-US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10264259" y="3385304"/>
              <a:ext cx="2293858" cy="8477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650"/>
                </a:lnSpc>
                <a:buNone/>
              </a:pPr>
              <a:r>
                <a:rPr lang="en-US" sz="1600" dirty="0">
                  <a:solidFill>
                    <a:srgbClr val="FFFFFF"/>
                  </a:solidFill>
                  <a:latin typeface="Syne" pitchFamily="34" charset="0"/>
                  <a:ea typeface="Syne" pitchFamily="34" charset="-122"/>
                  <a:cs typeface="Syne" pitchFamily="34" charset="-120"/>
                </a:rPr>
                <a:t>Crop comparison tool, eco-score &amp; soil health index, equipment recommendation, and ranked decisions.</a:t>
              </a:r>
              <a:endParaRPr lang="en-US" sz="16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1907858" y="4505563"/>
              <a:ext cx="2622471" cy="2008465"/>
            </a:xfrm>
            <a:prstGeom prst="roundRect">
              <a:avLst>
                <a:gd name="adj" fmla="val 3278"/>
              </a:avLst>
            </a:prstGeom>
            <a:solidFill>
              <a:srgbClr val="547808"/>
            </a:solidFill>
            <a:ln w="7620">
              <a:solidFill>
                <a:srgbClr val="6D9121"/>
              </a:solidFill>
              <a:prstDash val="solid"/>
            </a:ln>
          </p:spPr>
          <p:txBody>
            <a:bodyPr/>
            <a:lstStyle/>
            <a:p>
              <a:endParaRPr lang="en-IN" sz="2400"/>
            </a:p>
          </p:txBody>
        </p:sp>
        <p:sp>
          <p:nvSpPr>
            <p:cNvPr id="17" name="Text 15"/>
            <p:cNvSpPr/>
            <p:nvPr/>
          </p:nvSpPr>
          <p:spPr>
            <a:xfrm>
              <a:off x="2072164" y="4669869"/>
              <a:ext cx="2293858" cy="9791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00"/>
                </a:lnSpc>
                <a:buNone/>
              </a:pPr>
              <a:r>
                <a:rPr lang="en-US" b="1" dirty="0">
                  <a:solidFill>
                    <a:srgbClr val="FFFFFF"/>
                  </a:solidFill>
                  <a:latin typeface="Syne Extra Bold" pitchFamily="34" charset="0"/>
                  <a:ea typeface="Syne Extra Bold" pitchFamily="34" charset="-122"/>
                  <a:cs typeface="Syne Extra Bold" pitchFamily="34" charset="-120"/>
                </a:rPr>
                <a:t>5. AI Explanation Layer (Gemini + RAG)</a:t>
              </a:r>
              <a:endParaRPr lang="en-US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2072164" y="5439370"/>
              <a:ext cx="2293858" cy="6357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650"/>
                </a:lnSpc>
                <a:buNone/>
              </a:pPr>
              <a:r>
                <a:rPr lang="en-US" sz="1600" dirty="0">
                  <a:solidFill>
                    <a:srgbClr val="FFFFFF"/>
                  </a:solidFill>
                  <a:latin typeface="Syne" pitchFamily="34" charset="0"/>
                  <a:ea typeface="Syne" pitchFamily="34" charset="-122"/>
                  <a:cs typeface="Syne" pitchFamily="34" charset="-120"/>
                </a:rPr>
                <a:t>Context retrieval from the knowledge base, then generates the explanation and script.</a:t>
              </a:r>
              <a:endParaRPr lang="en-US" sz="16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4638556" y="4505563"/>
              <a:ext cx="2622471" cy="2008465"/>
            </a:xfrm>
            <a:prstGeom prst="roundRect">
              <a:avLst>
                <a:gd name="adj" fmla="val 3278"/>
              </a:avLst>
            </a:prstGeom>
            <a:solidFill>
              <a:srgbClr val="547808"/>
            </a:solidFill>
            <a:ln w="7620">
              <a:solidFill>
                <a:srgbClr val="6D9121"/>
              </a:solidFill>
              <a:prstDash val="solid"/>
            </a:ln>
          </p:spPr>
          <p:txBody>
            <a:bodyPr/>
            <a:lstStyle/>
            <a:p>
              <a:endParaRPr lang="en-IN" sz="2400"/>
            </a:p>
          </p:txBody>
        </p:sp>
        <p:sp>
          <p:nvSpPr>
            <p:cNvPr id="20" name="Text 18"/>
            <p:cNvSpPr/>
            <p:nvPr/>
          </p:nvSpPr>
          <p:spPr>
            <a:xfrm>
              <a:off x="4802862" y="4669869"/>
              <a:ext cx="2293858" cy="48958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00"/>
                </a:lnSpc>
                <a:buNone/>
              </a:pPr>
              <a:r>
                <a:rPr lang="en-US" b="1" dirty="0">
                  <a:solidFill>
                    <a:srgbClr val="FFFFFF"/>
                  </a:solidFill>
                  <a:latin typeface="Syne Extra Bold" pitchFamily="34" charset="0"/>
                  <a:ea typeface="Syne Extra Bold" pitchFamily="34" charset="-122"/>
                  <a:cs typeface="Syne Extra Bold" pitchFamily="34" charset="-120"/>
                </a:rPr>
                <a:t>6. AI Explainer Output</a:t>
              </a:r>
              <a:endParaRPr lang="en-US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4802862" y="5224343"/>
              <a:ext cx="2293858" cy="6357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650"/>
                </a:lnSpc>
                <a:buNone/>
              </a:pPr>
              <a:r>
                <a:rPr lang="en-US" sz="1600" dirty="0">
                  <a:solidFill>
                    <a:srgbClr val="FFFFFF"/>
                  </a:solidFill>
                  <a:latin typeface="Syne" pitchFamily="34" charset="0"/>
                  <a:ea typeface="Syne" pitchFamily="34" charset="-122"/>
                  <a:cs typeface="Syne" pitchFamily="34" charset="-120"/>
                </a:rPr>
                <a:t>Text to speech, optional video explanation, and multi-language support.</a:t>
              </a:r>
              <a:endParaRPr lang="en-US" sz="16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7369254" y="4505563"/>
              <a:ext cx="2622471" cy="2008465"/>
            </a:xfrm>
            <a:prstGeom prst="roundRect">
              <a:avLst>
                <a:gd name="adj" fmla="val 3278"/>
              </a:avLst>
            </a:prstGeom>
            <a:solidFill>
              <a:srgbClr val="547808"/>
            </a:solidFill>
            <a:ln w="7620">
              <a:solidFill>
                <a:srgbClr val="6D9121"/>
              </a:solidFill>
              <a:prstDash val="solid"/>
            </a:ln>
          </p:spPr>
          <p:txBody>
            <a:bodyPr/>
            <a:lstStyle/>
            <a:p>
              <a:endParaRPr lang="en-IN" sz="2400"/>
            </a:p>
          </p:txBody>
        </p:sp>
        <p:sp>
          <p:nvSpPr>
            <p:cNvPr id="23" name="Text 21"/>
            <p:cNvSpPr/>
            <p:nvPr/>
          </p:nvSpPr>
          <p:spPr>
            <a:xfrm>
              <a:off x="7533561" y="4669869"/>
              <a:ext cx="2293858" cy="7343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00"/>
                </a:lnSpc>
                <a:buNone/>
              </a:pPr>
              <a:r>
                <a:rPr lang="en-US" b="1" dirty="0">
                  <a:solidFill>
                    <a:srgbClr val="FFFFFF"/>
                  </a:solidFill>
                  <a:latin typeface="Syne Extra Bold" pitchFamily="34" charset="0"/>
                  <a:ea typeface="Syne Extra Bold" pitchFamily="34" charset="-122"/>
                  <a:cs typeface="Syne Extra Bold" pitchFamily="34" charset="-120"/>
                </a:rPr>
                <a:t>7. Visualization &amp; Dashboard</a:t>
              </a:r>
              <a:endParaRPr lang="en-US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7533561" y="5469136"/>
              <a:ext cx="2293858" cy="6357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650"/>
                </a:lnSpc>
                <a:buNone/>
              </a:pPr>
              <a:r>
                <a:rPr lang="en-US" sz="1600" dirty="0">
                  <a:solidFill>
                    <a:srgbClr val="FFFFFF"/>
                  </a:solidFill>
                  <a:latin typeface="Syne" pitchFamily="34" charset="0"/>
                  <a:ea typeface="Syne" pitchFamily="34" charset="-122"/>
                  <a:cs typeface="Syne" pitchFamily="34" charset="-120"/>
                </a:rPr>
                <a:t>Interactive charts, comparison graphs, and a recommendations panel.</a:t>
              </a:r>
              <a:endParaRPr lang="en-US" sz="16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10099953" y="4505563"/>
              <a:ext cx="2622471" cy="2008465"/>
            </a:xfrm>
            <a:prstGeom prst="roundRect">
              <a:avLst>
                <a:gd name="adj" fmla="val 3278"/>
              </a:avLst>
            </a:prstGeom>
            <a:solidFill>
              <a:srgbClr val="547808"/>
            </a:solidFill>
            <a:ln w="7620">
              <a:solidFill>
                <a:srgbClr val="6D9121"/>
              </a:solidFill>
              <a:prstDash val="solid"/>
            </a:ln>
          </p:spPr>
          <p:txBody>
            <a:bodyPr/>
            <a:lstStyle/>
            <a:p>
              <a:endParaRPr lang="en-IN" sz="2400"/>
            </a:p>
          </p:txBody>
        </p:sp>
        <p:sp>
          <p:nvSpPr>
            <p:cNvPr id="26" name="Text 24"/>
            <p:cNvSpPr/>
            <p:nvPr/>
          </p:nvSpPr>
          <p:spPr>
            <a:xfrm>
              <a:off x="10264259" y="4669869"/>
              <a:ext cx="2293858" cy="48958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00"/>
                </a:lnSpc>
                <a:buNone/>
              </a:pPr>
              <a:r>
                <a:rPr lang="en-US" b="1" dirty="0">
                  <a:solidFill>
                    <a:srgbClr val="FFFFFF"/>
                  </a:solidFill>
                  <a:latin typeface="Syne Extra Bold" pitchFamily="34" charset="0"/>
                  <a:ea typeface="Syne Extra Bold" pitchFamily="34" charset="-122"/>
                  <a:cs typeface="Syne Extra Bold" pitchFamily="34" charset="-120"/>
                </a:rPr>
                <a:t>8. Additional Services</a:t>
              </a:r>
              <a:endParaRPr lang="en-US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10264259" y="5224343"/>
              <a:ext cx="2293858" cy="6357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171450" indent="-171450" algn="l">
                <a:lnSpc>
                  <a:spcPts val="1650"/>
                </a:lnSpc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rgbClr val="FFFFFF"/>
                  </a:solidFill>
                  <a:latin typeface="Syne" pitchFamily="34" charset="0"/>
                  <a:ea typeface="Syne" pitchFamily="34" charset="-122"/>
                  <a:cs typeface="Syne" pitchFamily="34" charset="-120"/>
                </a:rPr>
                <a:t>Nearby services </a:t>
              </a:r>
            </a:p>
            <a:p>
              <a:pPr marL="171450" indent="-171450" algn="l">
                <a:lnSpc>
                  <a:spcPts val="1650"/>
                </a:lnSpc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rgbClr val="FFFFFF"/>
                  </a:solidFill>
                  <a:latin typeface="Syne" pitchFamily="34" charset="0"/>
                  <a:ea typeface="Syne" pitchFamily="34" charset="-122"/>
                  <a:cs typeface="Syne" pitchFamily="34" charset="-120"/>
                </a:rPr>
                <a:t>inventory management</a:t>
              </a:r>
            </a:p>
            <a:p>
              <a:pPr marL="171450" indent="-171450" algn="l">
                <a:lnSpc>
                  <a:spcPts val="1650"/>
                </a:lnSpc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rgbClr val="FFFFFF"/>
                  </a:solidFill>
                  <a:latin typeface="Syne" pitchFamily="34" charset="0"/>
                  <a:ea typeface="Syne" pitchFamily="34" charset="-122"/>
                  <a:cs typeface="Syne" pitchFamily="34" charset="-120"/>
                </a:rPr>
                <a:t> the agri news feed.</a:t>
              </a:r>
              <a:endParaRPr lang="en-US" sz="2000" dirty="0"/>
            </a:p>
          </p:txBody>
        </p:sp>
      </p:grpSp>
      <p:sp>
        <p:nvSpPr>
          <p:cNvPr id="28" name="Text 26"/>
          <p:cNvSpPr/>
          <p:nvPr/>
        </p:nvSpPr>
        <p:spPr>
          <a:xfrm>
            <a:off x="596622" y="6869931"/>
            <a:ext cx="13539508" cy="538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demonstration will highlight the seamless integration of data pipelines, predictive models, and generative AI — delivering explainable, actionable insights in real time.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36057"/>
            <a:ext cx="781181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Work Distribution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98464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Each team member owned a distinct system layer, ensuring clean separation of responsibilities and cohesive integration across the full stack.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3000732"/>
            <a:ext cx="188059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Ayush Kumar Singh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3421380"/>
            <a:ext cx="188059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AI &amp; NLP Layer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37293" y="3968829"/>
            <a:ext cx="3104495" cy="3424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Gemini integration &amp; prompt engineering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RAG pipeline architecture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AI Explainer module (text → audio/video)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4579382" y="3052733"/>
            <a:ext cx="188071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Alok Kumar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4571597" y="3426797"/>
            <a:ext cx="28687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Backend &amp; Infrastructure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4559156" y="3870207"/>
            <a:ext cx="2868782" cy="261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Flask backend &amp; REST API development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Database design, ORM models &amp; deployment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8170309" y="3002174"/>
            <a:ext cx="188071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Suprit Kumar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8170309" y="3398682"/>
            <a:ext cx="188071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Frontend &amp; UX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8170308" y="3854099"/>
            <a:ext cx="2566065" cy="2256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Dashboard UI &amp; data visualisations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Chat interface &amp; responsive design</a:t>
            </a:r>
            <a:endParaRPr lang="en-US" sz="1750" dirty="0"/>
          </a:p>
        </p:txBody>
      </p:sp>
      <p:sp>
        <p:nvSpPr>
          <p:cNvPr id="17" name="Text 11"/>
          <p:cNvSpPr/>
          <p:nvPr/>
        </p:nvSpPr>
        <p:spPr>
          <a:xfrm>
            <a:off x="11486343" y="3044352"/>
            <a:ext cx="188071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Ankit Kumar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11506233" y="3386584"/>
            <a:ext cx="188071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Data &amp; Pipelines</a:t>
            </a:r>
            <a:endParaRPr lang="en-US" sz="1750" dirty="0"/>
          </a:p>
        </p:txBody>
      </p:sp>
      <p:sp>
        <p:nvSpPr>
          <p:cNvPr id="19" name="Text 13"/>
          <p:cNvSpPr/>
          <p:nvPr/>
        </p:nvSpPr>
        <p:spPr>
          <a:xfrm>
            <a:off x="11466302" y="3877074"/>
            <a:ext cx="2566065" cy="261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Satellite &amp; weather data integration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JSON schemas, eco-score logic &amp; data pipelines</a:t>
            </a:r>
            <a:endParaRPr lang="en-US" sz="175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37C4AFF-2671-ECD0-3ED0-C89986BB2E39}"/>
              </a:ext>
            </a:extLst>
          </p:cNvPr>
          <p:cNvSpPr/>
          <p:nvPr/>
        </p:nvSpPr>
        <p:spPr>
          <a:xfrm>
            <a:off x="0" y="6675058"/>
            <a:ext cx="14630400" cy="1554542"/>
          </a:xfrm>
          <a:custGeom>
            <a:avLst/>
            <a:gdLst>
              <a:gd name="csX0" fmla="*/ 0 w 14630400"/>
              <a:gd name="csY0" fmla="*/ 0 h 1041400"/>
              <a:gd name="csX1" fmla="*/ 14630400 w 14630400"/>
              <a:gd name="csY1" fmla="*/ 0 h 1041400"/>
              <a:gd name="csX2" fmla="*/ 14630400 w 14630400"/>
              <a:gd name="csY2" fmla="*/ 1041400 h 1041400"/>
              <a:gd name="csX3" fmla="*/ 0 w 14630400"/>
              <a:gd name="csY3" fmla="*/ 1041400 h 1041400"/>
              <a:gd name="csX4" fmla="*/ 0 w 14630400"/>
              <a:gd name="csY4" fmla="*/ 0 h 1041400"/>
              <a:gd name="csX0" fmla="*/ 0 w 14630400"/>
              <a:gd name="csY0" fmla="*/ 40 h 1041440"/>
              <a:gd name="csX1" fmla="*/ 3924300 w 14630400"/>
              <a:gd name="csY1" fmla="*/ 317540 h 1041440"/>
              <a:gd name="csX2" fmla="*/ 14630400 w 14630400"/>
              <a:gd name="csY2" fmla="*/ 40 h 1041440"/>
              <a:gd name="csX3" fmla="*/ 14630400 w 14630400"/>
              <a:gd name="csY3" fmla="*/ 1041440 h 1041440"/>
              <a:gd name="csX4" fmla="*/ 0 w 14630400"/>
              <a:gd name="csY4" fmla="*/ 1041440 h 1041440"/>
              <a:gd name="csX5" fmla="*/ 0 w 14630400"/>
              <a:gd name="csY5" fmla="*/ 40 h 1041440"/>
              <a:gd name="csX0" fmla="*/ 0 w 14630400"/>
              <a:gd name="csY0" fmla="*/ 495300 h 1536700"/>
              <a:gd name="csX1" fmla="*/ 3924300 w 14630400"/>
              <a:gd name="csY1" fmla="*/ 812800 h 1536700"/>
              <a:gd name="csX2" fmla="*/ 9271000 w 14630400"/>
              <a:gd name="csY2" fmla="*/ 0 h 1536700"/>
              <a:gd name="csX3" fmla="*/ 14630400 w 14630400"/>
              <a:gd name="csY3" fmla="*/ 495300 h 1536700"/>
              <a:gd name="csX4" fmla="*/ 14630400 w 14630400"/>
              <a:gd name="csY4" fmla="*/ 1536700 h 1536700"/>
              <a:gd name="csX5" fmla="*/ 0 w 14630400"/>
              <a:gd name="csY5" fmla="*/ 1536700 h 1536700"/>
              <a:gd name="csX6" fmla="*/ 0 w 14630400"/>
              <a:gd name="csY6" fmla="*/ 495300 h 1536700"/>
              <a:gd name="csX0" fmla="*/ 0 w 14630400"/>
              <a:gd name="csY0" fmla="*/ 495300 h 1536700"/>
              <a:gd name="csX1" fmla="*/ 3924300 w 14630400"/>
              <a:gd name="csY1" fmla="*/ 812800 h 1536700"/>
              <a:gd name="csX2" fmla="*/ 9271000 w 14630400"/>
              <a:gd name="csY2" fmla="*/ 0 h 1536700"/>
              <a:gd name="csX3" fmla="*/ 14630400 w 14630400"/>
              <a:gd name="csY3" fmla="*/ 495300 h 1536700"/>
              <a:gd name="csX4" fmla="*/ 14630400 w 14630400"/>
              <a:gd name="csY4" fmla="*/ 1536700 h 1536700"/>
              <a:gd name="csX5" fmla="*/ 0 w 14630400"/>
              <a:gd name="csY5" fmla="*/ 1536700 h 1536700"/>
              <a:gd name="csX6" fmla="*/ 0 w 14630400"/>
              <a:gd name="csY6" fmla="*/ 495300 h 1536700"/>
              <a:gd name="csX0" fmla="*/ 0 w 14630400"/>
              <a:gd name="csY0" fmla="*/ 513142 h 1554542"/>
              <a:gd name="csX1" fmla="*/ 3924300 w 14630400"/>
              <a:gd name="csY1" fmla="*/ 830642 h 1554542"/>
              <a:gd name="csX2" fmla="*/ 7302500 w 14630400"/>
              <a:gd name="csY2" fmla="*/ 271842 h 1554542"/>
              <a:gd name="csX3" fmla="*/ 9271000 w 14630400"/>
              <a:gd name="csY3" fmla="*/ 17842 h 1554542"/>
              <a:gd name="csX4" fmla="*/ 14630400 w 14630400"/>
              <a:gd name="csY4" fmla="*/ 513142 h 1554542"/>
              <a:gd name="csX5" fmla="*/ 14630400 w 14630400"/>
              <a:gd name="csY5" fmla="*/ 1554542 h 1554542"/>
              <a:gd name="csX6" fmla="*/ 0 w 14630400"/>
              <a:gd name="csY6" fmla="*/ 1554542 h 1554542"/>
              <a:gd name="csX7" fmla="*/ 0 w 14630400"/>
              <a:gd name="csY7" fmla="*/ 513142 h 15545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4630400" h="1554542">
                <a:moveTo>
                  <a:pt x="0" y="513142"/>
                </a:moveTo>
                <a:cubicBezTo>
                  <a:pt x="609600" y="508909"/>
                  <a:pt x="3314700" y="834875"/>
                  <a:pt x="3924300" y="830642"/>
                </a:cubicBezTo>
                <a:cubicBezTo>
                  <a:pt x="5331883" y="752325"/>
                  <a:pt x="6411383" y="407309"/>
                  <a:pt x="7302500" y="271842"/>
                </a:cubicBezTo>
                <a:cubicBezTo>
                  <a:pt x="8193617" y="136375"/>
                  <a:pt x="8240183" y="-60475"/>
                  <a:pt x="9271000" y="17842"/>
                </a:cubicBezTo>
                <a:cubicBezTo>
                  <a:pt x="11565467" y="1440242"/>
                  <a:pt x="12843933" y="348042"/>
                  <a:pt x="14630400" y="513142"/>
                </a:cubicBezTo>
                <a:lnTo>
                  <a:pt x="14630400" y="1554542"/>
                </a:lnTo>
                <a:lnTo>
                  <a:pt x="0" y="1554542"/>
                </a:lnTo>
                <a:lnTo>
                  <a:pt x="0" y="513142"/>
                </a:lnTo>
                <a:close/>
              </a:path>
            </a:pathLst>
          </a:custGeom>
          <a:gradFill flip="none" rotWithShape="1">
            <a:gsLst>
              <a:gs pos="25000">
                <a:schemeClr val="accent6">
                  <a:lumMod val="67000"/>
                </a:schemeClr>
              </a:gs>
              <a:gs pos="100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828" y="687824"/>
            <a:ext cx="7566303" cy="645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GitHub Repository</a:t>
            </a:r>
            <a:endParaRPr lang="en-US" sz="4050" dirty="0"/>
          </a:p>
        </p:txBody>
      </p:sp>
      <p:sp>
        <p:nvSpPr>
          <p:cNvPr id="3" name="Shape 1"/>
          <p:cNvSpPr/>
          <p:nvPr/>
        </p:nvSpPr>
        <p:spPr>
          <a:xfrm>
            <a:off x="722828" y="1709380"/>
            <a:ext cx="13184743" cy="827603"/>
          </a:xfrm>
          <a:prstGeom prst="roundRect">
            <a:avLst>
              <a:gd name="adj" fmla="val 10482"/>
            </a:avLst>
          </a:prstGeom>
          <a:solidFill>
            <a:srgbClr val="33480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283" y="2007632"/>
            <a:ext cx="258128" cy="20645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93865" y="1948934"/>
            <a:ext cx="12307253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50"/>
              </a:lnSpc>
            </a:pPr>
            <a:r>
              <a:rPr lang="en-US" sz="28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Repository URL:  </a:t>
            </a:r>
            <a:r>
              <a:rPr lang="en-US" sz="28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  <a:hlinkClick r:id="rId4"/>
              </a:rPr>
              <a:t>https://github.com/itzayush21/CropAI.git</a:t>
            </a:r>
            <a:endParaRPr lang="en-US" sz="2800" dirty="0"/>
          </a:p>
        </p:txBody>
      </p:sp>
      <p:sp>
        <p:nvSpPr>
          <p:cNvPr id="6" name="Shape 3">
            <a:hlinkClick r:id="rId5"/>
          </p:cNvPr>
          <p:cNvSpPr/>
          <p:nvPr/>
        </p:nvSpPr>
        <p:spPr>
          <a:xfrm>
            <a:off x="722828" y="2748558"/>
            <a:ext cx="4269581" cy="2302550"/>
          </a:xfrm>
          <a:prstGeom prst="roundRect">
            <a:avLst>
              <a:gd name="adj" fmla="val 3768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>
            <a:hlinkClick r:id="rId5"/>
          </p:cNvPr>
          <p:cNvSpPr/>
          <p:nvPr/>
        </p:nvSpPr>
        <p:spPr>
          <a:xfrm>
            <a:off x="936903" y="2962632"/>
            <a:ext cx="619601" cy="619601"/>
          </a:xfrm>
          <a:prstGeom prst="roundRect">
            <a:avLst>
              <a:gd name="adj" fmla="val 14756409"/>
            </a:avLst>
          </a:prstGeom>
          <a:solidFill>
            <a:srgbClr val="A9F00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07281" y="3132892"/>
            <a:ext cx="278844" cy="2788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36903" y="3770233"/>
            <a:ext cx="3052167" cy="322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Flask Backend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936903" y="4205764"/>
            <a:ext cx="3841433" cy="631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REST API, route handlers, and application logic.</a:t>
            </a:r>
            <a:endParaRPr lang="en-US" sz="1600" dirty="0"/>
          </a:p>
        </p:txBody>
      </p:sp>
      <p:sp>
        <p:nvSpPr>
          <p:cNvPr id="11" name="Shape 7">
            <a:hlinkClick r:id="rId8"/>
          </p:cNvPr>
          <p:cNvSpPr/>
          <p:nvPr/>
        </p:nvSpPr>
        <p:spPr>
          <a:xfrm>
            <a:off x="5180409" y="2748558"/>
            <a:ext cx="4269581" cy="2302550"/>
          </a:xfrm>
          <a:prstGeom prst="roundRect">
            <a:avLst>
              <a:gd name="adj" fmla="val 3768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8">
            <a:hlinkClick r:id="rId8"/>
          </p:cNvPr>
          <p:cNvSpPr/>
          <p:nvPr/>
        </p:nvSpPr>
        <p:spPr>
          <a:xfrm>
            <a:off x="5394484" y="2962632"/>
            <a:ext cx="619601" cy="619601"/>
          </a:xfrm>
          <a:prstGeom prst="roundRect">
            <a:avLst>
              <a:gd name="adj" fmla="val 14756409"/>
            </a:avLst>
          </a:prstGeom>
          <a:solidFill>
            <a:srgbClr val="A9F00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564862" y="3132892"/>
            <a:ext cx="278844" cy="2788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394484" y="3770233"/>
            <a:ext cx="2581870" cy="322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ML Models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5394484" y="4205764"/>
            <a:ext cx="3841433" cy="631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Trained models for crop, fertiliser, and profit prediction.</a:t>
            </a:r>
            <a:endParaRPr lang="en-US" sz="1600" dirty="0"/>
          </a:p>
        </p:txBody>
      </p:sp>
      <p:sp>
        <p:nvSpPr>
          <p:cNvPr id="16" name="Shape 11">
            <a:hlinkClick r:id="rId11"/>
          </p:cNvPr>
          <p:cNvSpPr/>
          <p:nvPr/>
        </p:nvSpPr>
        <p:spPr>
          <a:xfrm>
            <a:off x="9637990" y="2748558"/>
            <a:ext cx="4269581" cy="2302550"/>
          </a:xfrm>
          <a:prstGeom prst="roundRect">
            <a:avLst>
              <a:gd name="adj" fmla="val 3768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>
            <a:off x="9852065" y="2962632"/>
            <a:ext cx="619601" cy="619601"/>
          </a:xfrm>
          <a:prstGeom prst="roundRect">
            <a:avLst>
              <a:gd name="adj" fmla="val 14756409"/>
            </a:avLst>
          </a:prstGeom>
          <a:solidFill>
            <a:srgbClr val="A9F00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022443" y="3132892"/>
            <a:ext cx="278844" cy="2788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852065" y="3770233"/>
            <a:ext cx="2974181" cy="322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Data Pipelines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9852065" y="4205764"/>
            <a:ext cx="3841433" cy="631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Satellite, weather, and soil data ingestion scripts.</a:t>
            </a:r>
            <a:endParaRPr lang="en-US" sz="1600" dirty="0"/>
          </a:p>
        </p:txBody>
      </p:sp>
      <p:sp>
        <p:nvSpPr>
          <p:cNvPr id="21" name="Shape 15">
            <a:hlinkClick r:id="rId14"/>
          </p:cNvPr>
          <p:cNvSpPr/>
          <p:nvPr/>
        </p:nvSpPr>
        <p:spPr>
          <a:xfrm>
            <a:off x="722828" y="5239107"/>
            <a:ext cx="6498312" cy="2302550"/>
          </a:xfrm>
          <a:prstGeom prst="roundRect">
            <a:avLst>
              <a:gd name="adj" fmla="val 3768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6"/>
          <p:cNvSpPr/>
          <p:nvPr/>
        </p:nvSpPr>
        <p:spPr>
          <a:xfrm>
            <a:off x="936903" y="5453182"/>
            <a:ext cx="619601" cy="619601"/>
          </a:xfrm>
          <a:prstGeom prst="roundRect">
            <a:avLst>
              <a:gd name="adj" fmla="val 14756409"/>
            </a:avLst>
          </a:prstGeom>
          <a:solidFill>
            <a:srgbClr val="A9F00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07281" y="5623441"/>
            <a:ext cx="278844" cy="27884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36903" y="6260783"/>
            <a:ext cx="4322683" cy="322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Frontend Dashboard</a:t>
            </a:r>
            <a:endParaRPr lang="en-US" sz="2000" dirty="0"/>
          </a:p>
        </p:txBody>
      </p:sp>
      <p:sp>
        <p:nvSpPr>
          <p:cNvPr id="25" name="Text 18"/>
          <p:cNvSpPr/>
          <p:nvPr/>
        </p:nvSpPr>
        <p:spPr>
          <a:xfrm>
            <a:off x="936903" y="6696313"/>
            <a:ext cx="6070163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Interactive UI, visualisations, and chat interface.</a:t>
            </a:r>
            <a:endParaRPr lang="en-US" sz="1600" dirty="0"/>
          </a:p>
        </p:txBody>
      </p:sp>
      <p:sp>
        <p:nvSpPr>
          <p:cNvPr id="26" name="Shape 19"/>
          <p:cNvSpPr/>
          <p:nvPr/>
        </p:nvSpPr>
        <p:spPr>
          <a:xfrm>
            <a:off x="7409140" y="5239107"/>
            <a:ext cx="6498431" cy="2302550"/>
          </a:xfrm>
          <a:prstGeom prst="roundRect">
            <a:avLst>
              <a:gd name="adj" fmla="val 3768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0"/>
          <p:cNvSpPr/>
          <p:nvPr/>
        </p:nvSpPr>
        <p:spPr>
          <a:xfrm>
            <a:off x="7623215" y="5453182"/>
            <a:ext cx="619601" cy="619601"/>
          </a:xfrm>
          <a:prstGeom prst="roundRect">
            <a:avLst>
              <a:gd name="adj" fmla="val 14756409"/>
            </a:avLst>
          </a:prstGeom>
          <a:solidFill>
            <a:srgbClr val="A9F00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793593" y="5623441"/>
            <a:ext cx="278844" cy="27884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7623215" y="6260783"/>
            <a:ext cx="2770584" cy="322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Docs &amp; Setup</a:t>
            </a:r>
            <a:endParaRPr lang="en-US" sz="2000" dirty="0"/>
          </a:p>
        </p:txBody>
      </p:sp>
      <p:sp>
        <p:nvSpPr>
          <p:cNvPr id="30" name="Text 22"/>
          <p:cNvSpPr/>
          <p:nvPr/>
        </p:nvSpPr>
        <p:spPr>
          <a:xfrm>
            <a:off x="7623215" y="6696313"/>
            <a:ext cx="6070282" cy="631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Full documentation, configuration guides, and onboarding instructions.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729</Words>
  <Application>Microsoft Office PowerPoint</Application>
  <PresentationFormat>Custom</PresentationFormat>
  <Paragraphs>100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Syne Extra Bold</vt:lpstr>
      <vt:lpstr>Syne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Singh, Ayush Kumar (Contractor)</dc:creator>
  <cp:lastModifiedBy>Singh, Ayush Kumar (Contractor)</cp:lastModifiedBy>
  <cp:revision>6</cp:revision>
  <dcterms:created xsi:type="dcterms:W3CDTF">2026-04-02T04:37:31Z</dcterms:created>
  <dcterms:modified xsi:type="dcterms:W3CDTF">2026-04-02T09:32:11Z</dcterms:modified>
</cp:coreProperties>
</file>